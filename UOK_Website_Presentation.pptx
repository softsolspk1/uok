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C9A567"/>
                </a:solidFill>
                <a:latin typeface="Calibri"/>
              </a:rPr>
              <a:t>UNIVERSITY OF KARACHI  ·  EST. 1951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EDE8D6"/>
                </a:solidFill>
                <a:latin typeface="Cambria"/>
              </a:rPr>
              <a:t>The New University Website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EDE8D6"/>
                </a:solidFill>
                <a:latin typeface="Cambria"/>
              </a:rPr>
              <a:t>A Complete Digital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 dirty="0">
                <a:solidFill>
                  <a:srgbClr val="EDE6D2"/>
                </a:solidFill>
                <a:latin typeface="Calibri"/>
              </a:rPr>
              <a:t>Prepared for presentation to the Vice Chancellor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8229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b="1" i="0" dirty="0">
                <a:solidFill>
                  <a:srgbClr val="C9A567"/>
                </a:solidFill>
                <a:latin typeface="Calibri"/>
              </a:rPr>
              <a:t>SOFTSOLS PAKISTAN</a:t>
            </a:r>
            <a:r>
              <a:rPr sz="1300" b="1" i="0" dirty="0">
                <a:solidFill>
                  <a:srgbClr val="C9A567"/>
                </a:solidFill>
                <a:latin typeface="Calibri"/>
              </a:rPr>
              <a:t>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1356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Project overview &amp; goals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Design philosophy — colour, typography, identity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Homepage walkthrough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Site-wide features &amp; navigation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Accessibility &amp; responsiveness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Content scope — every page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721356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Template-driven architecture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Complete feature list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Technical foundation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Benefits to the University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Next steps to go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Reimagining KU's Front Door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1B2A1E"/>
                </a:solidFill>
                <a:latin typeface="Calibri"/>
              </a:rPr>
              <a:t>The official website has been rebuilt from the ground up — every page, every section — to give the University a digital presence that matches its 75-year academic legacy.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2514600" cy="155448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3400" b="1" i="0">
                <a:solidFill>
                  <a:srgbClr val="3B7331"/>
                </a:solidFill>
                <a:latin typeface="Cambria"/>
              </a:rPr>
              <a:t>96</a:t>
            </a:r>
          </a:p>
          <a:p>
            <a:pPr algn="ctr"/>
            <a:r>
              <a:rPr sz="1100" b="1" i="0">
                <a:solidFill>
                  <a:srgbClr val="845E2F"/>
                </a:solidFill>
                <a:latin typeface="Calibri"/>
              </a:rPr>
              <a:t>PAGES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880360"/>
            <a:ext cx="2514600" cy="155448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3400" b="1" i="0">
                <a:solidFill>
                  <a:srgbClr val="3B7331"/>
                </a:solidFill>
                <a:latin typeface="Cambria"/>
              </a:rPr>
              <a:t>57</a:t>
            </a:r>
          </a:p>
          <a:p>
            <a:pPr algn="ctr"/>
            <a:r>
              <a:rPr sz="1100" b="1" i="0">
                <a:solidFill>
                  <a:srgbClr val="845E2F"/>
                </a:solidFill>
                <a:latin typeface="Calibri"/>
              </a:rPr>
              <a:t>DEPARTMENT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880360"/>
            <a:ext cx="2514600" cy="155448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3400" b="1" i="0">
                <a:solidFill>
                  <a:srgbClr val="3B7331"/>
                </a:solidFill>
                <a:latin typeface="Cambria"/>
              </a:rPr>
              <a:t>13</a:t>
            </a:r>
          </a:p>
          <a:p>
            <a:pPr algn="ctr"/>
            <a:r>
              <a:rPr sz="1100" b="1" i="0">
                <a:solidFill>
                  <a:srgbClr val="845E2F"/>
                </a:solidFill>
                <a:latin typeface="Calibri"/>
              </a:rPr>
              <a:t>INSTITUTES &amp; CENTRES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880360"/>
            <a:ext cx="2514600" cy="155448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3400" b="1" i="0">
                <a:solidFill>
                  <a:srgbClr val="3B7331"/>
                </a:solidFill>
                <a:latin typeface="Cambria"/>
              </a:rPr>
              <a:t>8</a:t>
            </a:r>
          </a:p>
          <a:p>
            <a:pPr algn="ctr"/>
            <a:r>
              <a:rPr sz="1100" b="1" i="0">
                <a:solidFill>
                  <a:srgbClr val="845E2F"/>
                </a:solidFill>
                <a:latin typeface="Calibri"/>
              </a:rPr>
              <a:t>FACULTIES REPRESENTED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B2A1E"/>
                </a:solidFill>
                <a:latin typeface="Calibri"/>
              </a:rPr>
              <a:t>Scope:  </a:t>
            </a:r>
            <a:r>
              <a:rPr sz="1400" b="0" i="0">
                <a:solidFill>
                  <a:srgbClr val="1B2A1E"/>
                </a:solidFill>
                <a:latin typeface="Calibri"/>
              </a:rPr>
              <a:t>Homepage plus every faculty, department, institute, admissions, library, research, examinations and student-services page.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B2A1E"/>
                </a:solidFill>
                <a:latin typeface="Calibri"/>
              </a:rPr>
              <a:t>Approach:  </a:t>
            </a:r>
            <a:r>
              <a:rPr sz="1400" b="0" i="0">
                <a:solidFill>
                  <a:srgbClr val="1B2A1E"/>
                </a:solidFill>
                <a:latin typeface="Calibri"/>
              </a:rPr>
              <a:t>A single consistent design system applied site-wide, built and maintained through reusable page templates.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A Visual Identity Rooted in Heritage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1B2A1E"/>
                </a:solidFill>
                <a:latin typeface="Calibri"/>
              </a:rPr>
              <a:t>Deep academic green, warm parchment beige, and gold accents — a palette that feels institutional, credible and timeless.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2514600" cy="914400"/>
          </a:xfrm>
          <a:prstGeom prst="rect">
            <a:avLst/>
          </a:prstGeom>
          <a:solidFill>
            <a:srgbClr val="EDE6D2"/>
          </a:solidFill>
          <a:ln w="12700">
            <a:solidFill>
              <a:srgbClr val="4B5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B2A1E"/>
                </a:solidFill>
                <a:latin typeface="Calibri"/>
              </a:rPr>
              <a:t>Parchment Beige</a:t>
            </a:r>
          </a:p>
          <a:p>
            <a:pPr algn="ctr"/>
            <a:r>
              <a:rPr sz="1000" b="0" i="0">
                <a:solidFill>
                  <a:srgbClr val="4B5A45"/>
                </a:solidFill>
                <a:latin typeface="Calibri"/>
              </a:rPr>
              <a:t>#EDE6D2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2514600" cy="914400"/>
          </a:xfrm>
          <a:prstGeom prst="rect">
            <a:avLst/>
          </a:prstGeom>
          <a:solidFill>
            <a:srgbClr val="1B2A1E"/>
          </a:solidFill>
          <a:ln w="12700">
            <a:solidFill>
              <a:srgbClr val="4B5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33375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B2A1E"/>
                </a:solidFill>
                <a:latin typeface="Calibri"/>
              </a:rPr>
              <a:t>Academic Green</a:t>
            </a:r>
          </a:p>
          <a:p>
            <a:pPr algn="ctr"/>
            <a:r>
              <a:rPr sz="1000" b="0" i="0">
                <a:solidFill>
                  <a:srgbClr val="4B5A45"/>
                </a:solidFill>
                <a:latin typeface="Calibri"/>
              </a:rPr>
              <a:t>#1B2A1E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377440"/>
            <a:ext cx="2514600" cy="914400"/>
          </a:xfrm>
          <a:prstGeom prst="rect">
            <a:avLst/>
          </a:prstGeom>
          <a:solidFill>
            <a:srgbClr val="3B7331"/>
          </a:solidFill>
          <a:ln w="12700">
            <a:solidFill>
              <a:srgbClr val="4B5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33375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B2A1E"/>
                </a:solidFill>
                <a:latin typeface="Calibri"/>
              </a:rPr>
              <a:t>Accent Green</a:t>
            </a:r>
          </a:p>
          <a:p>
            <a:pPr algn="ctr"/>
            <a:r>
              <a:rPr sz="1000" b="0" i="0">
                <a:solidFill>
                  <a:srgbClr val="4B5A45"/>
                </a:solidFill>
                <a:latin typeface="Calibri"/>
              </a:rPr>
              <a:t>#3B7331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377440"/>
            <a:ext cx="2514600" cy="914400"/>
          </a:xfrm>
          <a:prstGeom prst="rect">
            <a:avLst/>
          </a:prstGeom>
          <a:solidFill>
            <a:srgbClr val="845E2F"/>
          </a:solidFill>
          <a:ln w="12700">
            <a:solidFill>
              <a:srgbClr val="4B5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33375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B2A1E"/>
                </a:solidFill>
                <a:latin typeface="Calibri"/>
              </a:rPr>
              <a:t>Heritage Gold</a:t>
            </a:r>
          </a:p>
          <a:p>
            <a:pPr algn="ctr"/>
            <a:r>
              <a:rPr sz="1000" b="0" i="0">
                <a:solidFill>
                  <a:srgbClr val="4B5A45"/>
                </a:solidFill>
                <a:latin typeface="Calibri"/>
              </a:rPr>
              <a:t>#845E2F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B2A1E"/>
                </a:solidFill>
                <a:latin typeface="Calibri"/>
              </a:rPr>
              <a:t>Typography:  </a:t>
            </a:r>
            <a:r>
              <a:rPr sz="1400" b="0" i="0">
                <a:solidFill>
                  <a:srgbClr val="1B2A1E"/>
                </a:solidFill>
                <a:latin typeface="Calibri"/>
              </a:rPr>
              <a:t>Fraunces (serif display) for gravitas, Work Sans for clean readability, and Noto Nastaliq Urdu for the bilingual identity.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B2A1E"/>
                </a:solidFill>
                <a:latin typeface="Calibri"/>
              </a:rPr>
              <a:t>Dark mode:  </a:t>
            </a:r>
            <a:r>
              <a:rPr sz="1400" b="0" i="0">
                <a:solidFill>
                  <a:srgbClr val="1B2A1E"/>
                </a:solidFill>
                <a:latin typeface="Calibri"/>
              </a:rPr>
              <a:t>An automatic dark theme is built in, respecting each visitor's system preference.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A Homepage That Tells KU's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7828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Hero section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bilingual English/Urdu welcome with quick-task shortcuts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Stats band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key institutional numbers at a glance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History timeline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“Established by an act of parliament, seventy-five years ago”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Academics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“Eight faculties. Fifty-three departments.” directory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Research spotlight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“Where Pakistani chemistry earned its global reputation”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Library feature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Dr. Mahmud Hussain Library, with key facts highlighted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News &amp; notices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tabbed feed for Notifications, Examinations and Campus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Consistent, Intuitive Navigation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86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Dropdown menus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structured mega-menus across every one of the 96 pages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Mobile menu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accessible hamburger navigation for phones and tablets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Bilingual toggle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instant English / Urdu language switch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Consistent branding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logo, Home button and header identical on every page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Unified footer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quick links, contact details and credits on every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Built for Every Visitor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86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WCAG AA contrast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verified text/background contrast across all pages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Screen-reader support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ARIA labels, roles and states throughout (aria-expanded, aria-pressed, role="tablist")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Reduced-motion support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honours visitors' system motion preferences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Fully responsive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tuned breakpoints for mobile, tablet and desktop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Light &amp; dark themes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automatic, based on system preference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CONTENT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Every Corner of the University,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57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Department pages — one for every academic 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13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Institute &amp; research-centre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8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Faculties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4320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Admissions &amp; Prospectus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Examinations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94760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Library &amp; Research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19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Student Portal, Alumni &amp; Journals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846319"/>
            <a:ext cx="5212080" cy="914400"/>
          </a:xfrm>
          <a:prstGeom prst="rect">
            <a:avLst/>
          </a:prstGeom>
          <a:solidFill>
            <a:srgbClr val="F7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2200" b="1" i="0">
                <a:solidFill>
                  <a:srgbClr val="3B7331"/>
                </a:solidFill>
                <a:latin typeface="Cambria"/>
              </a:rPr>
              <a:t>1 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Administration &amp; Contact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One System, Ninety-Six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1B2A1E"/>
                </a:solidFill>
                <a:latin typeface="Calibri"/>
              </a:rPr>
              <a:t>Every department and institute page is generated from a shared template, so all pages stay visually and structurally consistent.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2916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Shared templates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department_template, institute, admissions, library, research and student-portal templates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Automated build scripts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Python scripts assemble each page from the template, ensuring zero drift between pages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One update, everywhere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a change to the shared template can be rolled out across all 57 department pages and 13 institutes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550" b="1" i="0">
                <a:solidFill>
                  <a:srgbClr val="1B2A1E"/>
                </a:solidFill>
                <a:latin typeface="Calibri"/>
              </a:rPr>
              <a:t>Faster future growth — </a:t>
            </a:r>
            <a:r>
              <a:rPr sz="1550" b="0" i="0">
                <a:solidFill>
                  <a:srgbClr val="1B2A1E"/>
                </a:solidFill>
                <a:latin typeface="Calibri"/>
              </a:rPr>
              <a:t>new departments or centres can be added in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FEATURE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Complete Feature List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29458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Bilingual English / Urdu interface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Dropdown navigation menus site-wide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Mobile-responsive hamburger menu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Automatic light &amp; dark mode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WCAG AA accessibility compliance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Custom heritage typography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029458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Bilingual hero section with quick-task shortcuts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Live institutional stats band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Interactive university history timeline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Academics directory (8 faculties, 53 departments)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Research spotlight section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Library feature with key 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FEATURE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Complete Feature List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3596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Tabbed news &amp; notices feed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57 individual department pages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13 institute / research-centre pages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Admissions &amp; prospectus pages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Examinations portal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Student portal page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Alumni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863596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Administration directory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Contact page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Consistent header, footer &amp; branding on every page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Custom favicon &amp; site identity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Clean URL routing via Vercel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350" b="0" i="0">
                <a:solidFill>
                  <a:srgbClr val="1B2A1E"/>
                </a:solidFill>
                <a:latin typeface="Calibri"/>
              </a:rPr>
              <a:t>Reduced-motion support for accessibility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Fast, Lightweight, Maintainable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6712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Lightweight build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static HTML, CSS and JavaScript with no heavy framework overhead, meaning fast page loads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Vercel deployment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clean, memorable URLs (e.g. /admissions) via routing rules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Template-driven pages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Python assembly scripts keep all 96 pages consistent and easy to regenerate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Scalable architecture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built to grow as the University adds departments, programmes and content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What This Means for the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94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Stronger first impression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a modern, credible site for prospective students, faculty and international partners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Wider reach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bilingual and accessible design serves more of Pakistan's students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Mobile-first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built for the majority of visitors who browse on their phones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Lower maintenance cost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templated architecture means fast, low-risk updates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1B2A1E"/>
                </a:solidFill>
                <a:latin typeface="Calibri"/>
              </a:rPr>
              <a:t>Future-ready — </a:t>
            </a:r>
            <a:r>
              <a:rPr sz="1600" b="0" i="0">
                <a:solidFill>
                  <a:srgbClr val="1B2A1E"/>
                </a:solidFill>
                <a:latin typeface="Calibri"/>
              </a:rPr>
              <a:t>a foundation that scales as the University's digital needs grow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C9A567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DE8D6"/>
                </a:solidFill>
                <a:latin typeface="Cambria"/>
              </a:rPr>
              <a:t>Path to Going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3970"/>
          </a:xfrm>
          <a:prstGeom prst="rect">
            <a:avLst/>
          </a:prstGeom>
          <a:solidFill>
            <a:srgbClr val="C9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4B5A45"/>
                </a:solidFill>
                <a:latin typeface="Calibri"/>
              </a:rPr>
              <a:t>UNIVERSITY OF KARACHI — WEBSITE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B5A45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226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Content review and sign-off by faculties, departments and administration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Populate live data feeds — notices, results, admissions dates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Cross-browser and cross-device quality assurance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Staff training for ongoing content updates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 i="0">
                <a:solidFill>
                  <a:srgbClr val="845E2F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B2A1E"/>
                </a:solidFill>
                <a:latin typeface="Calibri"/>
              </a:rPr>
              <a:t>Domain migration and official go-live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880360"/>
            <a:ext cx="1280160" cy="44450"/>
          </a:xfrm>
          <a:prstGeom prst="rect">
            <a:avLst/>
          </a:prstGeom>
          <a:solidFill>
            <a:srgbClr val="845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EDE8D6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>
                <a:solidFill>
                  <a:srgbClr val="EDE6D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983" y="6098258"/>
            <a:ext cx="9601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dirty="0">
                <a:solidFill>
                  <a:srgbClr val="C9A567"/>
                </a:solidFill>
                <a:latin typeface="Calibri"/>
              </a:rPr>
              <a:t>University of Karachi  ·  </a:t>
            </a:r>
            <a:r>
              <a:rPr lang="en-US" sz="1300" b="1" i="0" dirty="0" err="1">
                <a:solidFill>
                  <a:srgbClr val="C9A567"/>
                </a:solidFill>
                <a:latin typeface="Calibri"/>
              </a:rPr>
              <a:t>Softsols</a:t>
            </a:r>
            <a:r>
              <a:rPr lang="en-US" sz="1300" b="1" i="0" dirty="0">
                <a:solidFill>
                  <a:srgbClr val="C9A567"/>
                </a:solidFill>
                <a:latin typeface="Calibri"/>
              </a:rPr>
              <a:t> Pakistan</a:t>
            </a:r>
            <a:endParaRPr sz="1300" b="1" i="0" dirty="0">
              <a:solidFill>
                <a:srgbClr val="C9A567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1114</Words>
  <Application>Microsoft Office PowerPoint</Application>
  <PresentationFormat>Widescreen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softsols2025@hotmail.com</cp:lastModifiedBy>
  <cp:revision>2</cp:revision>
  <dcterms:created xsi:type="dcterms:W3CDTF">2013-01-27T09:14:16Z</dcterms:created>
  <dcterms:modified xsi:type="dcterms:W3CDTF">2026-08-06T05:16:10Z</dcterms:modified>
  <cp:category/>
</cp:coreProperties>
</file>